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C9F201A2-50E6-7988-1513-AC466B1A3922}">
          <p14:sldIdLst>
            <p14:sldId id="256"/>
            <p14:sldId id="257"/>
          </p14:sldIdLst>
        </p14:section>
        <p14:section name="Analysis" id="{009ED4BA-72D9-BDB3-5C4B-743C4A8ED75B}">
          <p14:sldIdLst>
            <p14:sldId id="258"/>
            <p14:sldId id="259"/>
            <p14:sldId id="260"/>
            <p14:sldId id="261"/>
          </p14:sldIdLst>
        </p14:section>
        <p14:section name="Next Steps" id="{5924BEDA-ECAB-0D08-EB45-863F2ACE1801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3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A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B2A4A"/>
                </a:solidFill>
                <a:latin typeface="+mn-lt"/>
              </a:rPr>
              <a:t>Sales by market region 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A5568"/>
                    </a:solidFill>
                    <a:latin typeface="+mn-lt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EU - Central</c:v>
                </c:pt>
                <c:pt idx="1">
                  <c:v>APAC - Oceania</c:v>
                </c:pt>
                <c:pt idx="2">
                  <c:v>APAC - Southeast Asia</c:v>
                </c:pt>
                <c:pt idx="3">
                  <c:v>EMEA</c:v>
                </c:pt>
                <c:pt idx="4">
                  <c:v>US - East</c:v>
                </c:pt>
                <c:pt idx="5">
                  <c:v>US - West</c:v>
                </c:pt>
                <c:pt idx="6">
                  <c:v>Africa</c:v>
                </c:pt>
                <c:pt idx="7">
                  <c:v>LATAM - North</c:v>
                </c:pt>
                <c:pt idx="8">
                  <c:v>LATAM - South</c:v>
                </c:pt>
                <c:pt idx="9">
                  <c:v>LATAM - Central</c:v>
                </c:pt>
                <c:pt idx="10">
                  <c:v>US - Central</c:v>
                </c:pt>
                <c:pt idx="11">
                  <c:v>EU - North</c:v>
                </c:pt>
                <c:pt idx="12">
                  <c:v>EU - South</c:v>
                </c:pt>
                <c:pt idx="13">
                  <c:v>US - South</c:v>
                </c:pt>
                <c:pt idx="14">
                  <c:v>APAC - North Asia</c:v>
                </c:pt>
                <c:pt idx="15">
                  <c:v>APAC - Central Asia</c:v>
                </c:pt>
                <c:pt idx="16">
                  <c:v>LATAM - Caribbean</c:v>
                </c:pt>
                <c:pt idx="17">
                  <c:v>Canada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1.76</c:v>
                </c:pt>
                <c:pt idx="1">
                  <c:v>0.99</c:v>
                </c:pt>
                <c:pt idx="2">
                  <c:v>0.91</c:v>
                </c:pt>
                <c:pt idx="3">
                  <c:v>0.85</c:v>
                </c:pt>
                <c:pt idx="4">
                  <c:v>0.83</c:v>
                </c:pt>
                <c:pt idx="5">
                  <c:v>0.83</c:v>
                </c:pt>
                <c:pt idx="6">
                  <c:v>0.75</c:v>
                </c:pt>
                <c:pt idx="7">
                  <c:v>0.72</c:v>
                </c:pt>
                <c:pt idx="8">
                  <c:v>0.66</c:v>
                </c:pt>
                <c:pt idx="9">
                  <c:v>0.65</c:v>
                </c:pt>
                <c:pt idx="10">
                  <c:v>0.65</c:v>
                </c:pt>
                <c:pt idx="11">
                  <c:v>0.65</c:v>
                </c:pt>
                <c:pt idx="12">
                  <c:v>0.59</c:v>
                </c:pt>
                <c:pt idx="13">
                  <c:v>0.51</c:v>
                </c:pt>
                <c:pt idx="14">
                  <c:v>0.48</c:v>
                </c:pt>
                <c:pt idx="15">
                  <c:v>0.39</c:v>
                </c:pt>
                <c:pt idx="16">
                  <c:v>0.35</c:v>
                </c:pt>
                <c:pt idx="17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38-4003-9DE5-D3A0E44636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NG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2462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deck converts 25K+ order lines into commercial and operational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Margin of 11.61% is healthy in aggregate but masks wide dispersion by sub-category and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Discount depth is not in this extract; margin compression in Tables, Machines and Chairs is the first place to test discount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Market-region view; EU, US, APAC and LATAM each combine their sub-regions. State-level detail was not part of the extract 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12188952" cy="1554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r>
              <a:rPr lang="en-US" sz="4600" b="1" dirty="0">
                <a:solidFill>
                  <a:schemeClr val="bg2"/>
                </a:solidFill>
              </a:rPr>
              <a:t>Title</a:t>
            </a:r>
            <a:endParaRPr lang="en-US" sz="46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731520" y="434340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</a:rPr>
              <a:t>Subtitle</a:t>
            </a: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Superstore Performance &amp; Fulfillment Analytics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Title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5"/>
                </a:solidFill>
              </a:rPr>
              <a:t>EXECUTIVE BRIEFING  |  DRIVING GROWTH THROUGH DATA</a:t>
            </a:r>
            <a:endParaRPr lang="en-US" sz="16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2"/>
                </a:solidFill>
              </a:rPr>
              <a:t>Superstore Performance &amp; Fulfillment Analytics</a:t>
            </a:r>
            <a:endParaRPr lang="en-US" sz="4600" dirty="0"/>
          </a:p>
        </p:txBody>
      </p:sp>
      <p:sp>
        <p:nvSpPr>
          <p:cNvPr id="4" name="Text 2"/>
          <p:cNvSpPr>
            <a:spLocks noGrp="1"/>
          </p:cNvSpPr>
          <p:nvPr>
            <p:ph type="body" idx="103" hasCustomPrompt="1"/>
          </p:nvPr>
        </p:nvSpPr>
        <p:spPr>
          <a:xfrm>
            <a:off x="731520" y="43434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</a:rPr>
              <a:t>Transforming Raw Line-Item Data into Strategic Commercial Insights</a:t>
            </a:r>
            <a:endParaRPr lang="en-US" sz="2400" dirty="0"/>
          </a:p>
        </p:txBody>
      </p:sp>
      <p:sp>
        <p:nvSpPr>
          <p:cNvPr id="5" name="Audience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Prepared for C-suite, Operations &amp; Commercial Leadership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Executive Summary</a:t>
            </a:r>
            <a:endParaRPr lang="en-US" sz="3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$12.64M in sales converted to $1.47M of profit at an 11.61% aggregate margin</a:t>
            </a:r>
            <a:endParaRPr lang="en-US" sz="16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11CD47B-0A96-4F9E-9462-9E3CBB464463}"/>
              </a:ext>
            </a:extLst>
          </p:cNvPr>
          <p:cNvGrpSpPr/>
          <p:nvPr/>
        </p:nvGrpSpPr>
        <p:grpSpPr>
          <a:xfrm>
            <a:off x="1435205" y="1600200"/>
            <a:ext cx="8250174" cy="2148840"/>
            <a:chOff x="548640" y="1691640"/>
            <a:chExt cx="8250174" cy="2148840"/>
          </a:xfrm>
        </p:grpSpPr>
        <p:sp>
          <p:nvSpPr>
            <p:cNvPr id="4" name="KPI TOTAL ORDERS"/>
            <p:cNvSpPr/>
            <p:nvPr/>
          </p:nvSpPr>
          <p:spPr>
            <a:xfrm>
              <a:off x="548640" y="1691640"/>
              <a:ext cx="2567178" cy="2148840"/>
            </a:xfrm>
            <a:prstGeom prst="roundRect">
              <a:avLst>
                <a:gd name="adj" fmla="val 4255"/>
              </a:avLst>
            </a:prstGeom>
            <a:solidFill>
              <a:schemeClr val="bg2"/>
            </a:solidFill>
            <a:ln w="9525">
              <a:solidFill>
                <a:srgbClr val="E2E8F0"/>
              </a:solidFill>
              <a:prstDash val="solid"/>
            </a:ln>
            <a:effectLst>
              <a:outerShdw blurRad="101600" dist="25400" dir="5400000" algn="bl" rotWithShape="0">
                <a:srgbClr val="1B2A4A">
                  <a:alpha val="10000"/>
                </a:srgbClr>
              </a:outerShdw>
            </a:effectLst>
          </p:spPr>
        </p:sp>
        <p:sp>
          <p:nvSpPr>
            <p:cNvPr id="5" name="Text 3"/>
            <p:cNvSpPr txBox="1"/>
            <p:nvPr/>
          </p:nvSpPr>
          <p:spPr>
            <a:xfrm>
              <a:off x="822960" y="1965960"/>
              <a:ext cx="201853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kern="0" spc="200" dirty="0">
                  <a:solidFill>
                    <a:schemeClr val="accent6"/>
                  </a:solidFill>
                </a:rPr>
                <a:t>TOTAL ORDERS</a:t>
              </a:r>
              <a:endParaRPr lang="en-US" sz="1200" dirty="0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822960" y="2377440"/>
              <a:ext cx="2018538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800" b="1" dirty="0">
                  <a:solidFill>
                    <a:schemeClr val="tx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25,035</a:t>
              </a:r>
              <a:endParaRPr lang="en-US" sz="3800" dirty="0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822960" y="3246120"/>
              <a:ext cx="201853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tx2"/>
                  </a:solidFill>
                </a:rPr>
                <a:t>Across all regions &amp; segments</a:t>
              </a:r>
              <a:endParaRPr lang="en-US" sz="1400" dirty="0"/>
            </a:p>
          </p:txBody>
        </p:sp>
        <p:sp>
          <p:nvSpPr>
            <p:cNvPr id="8" name="KPI ACTIVE CUSTOMERS"/>
            <p:cNvSpPr/>
            <p:nvPr/>
          </p:nvSpPr>
          <p:spPr>
            <a:xfrm>
              <a:off x="3390138" y="1691640"/>
              <a:ext cx="2567178" cy="2148840"/>
            </a:xfrm>
            <a:prstGeom prst="roundRect">
              <a:avLst>
                <a:gd name="adj" fmla="val 4255"/>
              </a:avLst>
            </a:prstGeom>
            <a:solidFill>
              <a:schemeClr val="bg2"/>
            </a:solidFill>
            <a:ln w="9525">
              <a:solidFill>
                <a:srgbClr val="E2E8F0"/>
              </a:solidFill>
              <a:prstDash val="solid"/>
            </a:ln>
            <a:effectLst>
              <a:outerShdw blurRad="101600" dist="25400" dir="5400000" algn="bl" rotWithShape="0">
                <a:srgbClr val="1B2A4A">
                  <a:alpha val="10000"/>
                </a:srgbClr>
              </a:outerShdw>
            </a:effectLst>
          </p:spPr>
        </p:sp>
        <p:sp>
          <p:nvSpPr>
            <p:cNvPr id="9" name="Text 7"/>
            <p:cNvSpPr txBox="1"/>
            <p:nvPr/>
          </p:nvSpPr>
          <p:spPr>
            <a:xfrm>
              <a:off x="3664458" y="1965960"/>
              <a:ext cx="201853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kern="0" spc="200" dirty="0">
                  <a:solidFill>
                    <a:schemeClr val="accent6"/>
                  </a:solidFill>
                </a:rPr>
                <a:t>ACTIVE CUSTOMERS</a:t>
              </a:r>
              <a:endParaRPr lang="en-US" sz="1200" dirty="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3664458" y="2377440"/>
              <a:ext cx="2018538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800" b="1" dirty="0">
                  <a:solidFill>
                    <a:schemeClr val="tx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1,589</a:t>
              </a:r>
              <a:endParaRPr lang="en-US" sz="3800" dirty="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3664458" y="3246120"/>
              <a:ext cx="201853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tx2"/>
                  </a:solidFill>
                </a:rPr>
                <a:t>178,312 units sold</a:t>
              </a:r>
              <a:endParaRPr lang="en-US" sz="1400" dirty="0"/>
            </a:p>
          </p:txBody>
        </p:sp>
        <p:sp>
          <p:nvSpPr>
            <p:cNvPr id="12" name="KPI GROSS REVENUE"/>
            <p:cNvSpPr/>
            <p:nvPr/>
          </p:nvSpPr>
          <p:spPr>
            <a:xfrm>
              <a:off x="6231636" y="1691640"/>
              <a:ext cx="2567178" cy="2148840"/>
            </a:xfrm>
            <a:prstGeom prst="roundRect">
              <a:avLst>
                <a:gd name="adj" fmla="val 4255"/>
              </a:avLst>
            </a:prstGeom>
            <a:solidFill>
              <a:schemeClr val="bg2"/>
            </a:solidFill>
            <a:ln w="9525">
              <a:solidFill>
                <a:srgbClr val="E2E8F0"/>
              </a:solidFill>
              <a:prstDash val="solid"/>
            </a:ln>
            <a:effectLst>
              <a:outerShdw blurRad="101600" dist="25400" dir="5400000" algn="bl" rotWithShape="0">
                <a:srgbClr val="1B2A4A">
                  <a:alpha val="10000"/>
                </a:srgbClr>
              </a:outerShdw>
            </a:effectLst>
          </p:spPr>
        </p:sp>
        <p:sp>
          <p:nvSpPr>
            <p:cNvPr id="13" name="Text 11"/>
            <p:cNvSpPr txBox="1"/>
            <p:nvPr/>
          </p:nvSpPr>
          <p:spPr>
            <a:xfrm>
              <a:off x="6505956" y="1965960"/>
              <a:ext cx="201853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kern="0" spc="200" dirty="0">
                  <a:solidFill>
                    <a:schemeClr val="accent6"/>
                  </a:solidFill>
                </a:rPr>
                <a:t>GROSS REVENUE</a:t>
              </a:r>
              <a:endParaRPr lang="en-US" sz="120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6505956" y="2377440"/>
              <a:ext cx="2018538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800" b="1" dirty="0">
                  <a:solidFill>
                    <a:schemeClr val="tx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$12.64M</a:t>
              </a:r>
              <a:endParaRPr lang="en-US" sz="3800" dirty="0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6505956" y="3246120"/>
              <a:ext cx="201853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tx2"/>
                  </a:solidFill>
                </a:rPr>
                <a:t>Total sales, all categories</a:t>
              </a:r>
              <a:endParaRPr lang="en-US" sz="14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6BCA027-A4E9-40A0-95E8-0A9A76AB2294}"/>
              </a:ext>
            </a:extLst>
          </p:cNvPr>
          <p:cNvGrpSpPr/>
          <p:nvPr/>
        </p:nvGrpSpPr>
        <p:grpSpPr>
          <a:xfrm>
            <a:off x="1435205" y="4023360"/>
            <a:ext cx="2567178" cy="2148840"/>
            <a:chOff x="9073134" y="1691640"/>
            <a:chExt cx="2567178" cy="2148840"/>
          </a:xfrm>
        </p:grpSpPr>
        <p:sp>
          <p:nvSpPr>
            <p:cNvPr id="16" name="KPI NET PROFIT"/>
            <p:cNvSpPr/>
            <p:nvPr/>
          </p:nvSpPr>
          <p:spPr>
            <a:xfrm>
              <a:off x="9073134" y="1691640"/>
              <a:ext cx="2567178" cy="2148840"/>
            </a:xfrm>
            <a:prstGeom prst="roundRect">
              <a:avLst>
                <a:gd name="adj" fmla="val 4255"/>
              </a:avLst>
            </a:prstGeom>
            <a:solidFill>
              <a:schemeClr val="accent1"/>
            </a:solidFill>
            <a:ln w="9525">
              <a:solidFill>
                <a:srgbClr val="E2E8F0"/>
              </a:solidFill>
              <a:prstDash val="solid"/>
            </a:ln>
            <a:effectLst>
              <a:outerShdw blurRad="101600" dist="25400" dir="5400000" algn="bl" rotWithShape="0">
                <a:srgbClr val="1B2A4A">
                  <a:alpha val="10000"/>
                </a:srgbClr>
              </a:outerShdw>
            </a:effectLst>
          </p:spPr>
        </p:sp>
        <p:sp>
          <p:nvSpPr>
            <p:cNvPr id="17" name="Text 15"/>
            <p:cNvSpPr txBox="1"/>
            <p:nvPr/>
          </p:nvSpPr>
          <p:spPr>
            <a:xfrm>
              <a:off x="9347454" y="1965960"/>
              <a:ext cx="201853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kern="0" spc="200" dirty="0">
                  <a:solidFill>
                    <a:schemeClr val="bg2"/>
                  </a:solidFill>
                </a:rPr>
                <a:t>NET PROFIT</a:t>
              </a:r>
              <a:endParaRPr lang="en-US" sz="1200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9347454" y="2377440"/>
              <a:ext cx="2018538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800" b="1" dirty="0">
                  <a:solidFill>
                    <a:schemeClr val="bg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$1.47M</a:t>
              </a:r>
              <a:endParaRPr lang="en-US" sz="3800" dirty="0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9347454" y="3246120"/>
              <a:ext cx="201853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bg2"/>
                  </a:solidFill>
                </a:rPr>
                <a:t>After product costs</a:t>
              </a:r>
              <a:endParaRPr lang="en-US" sz="14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2D5602D-D57D-4CCE-835A-570E94498CB7}"/>
              </a:ext>
            </a:extLst>
          </p:cNvPr>
          <p:cNvGrpSpPr/>
          <p:nvPr/>
        </p:nvGrpSpPr>
        <p:grpSpPr>
          <a:xfrm>
            <a:off x="4337303" y="4114800"/>
            <a:ext cx="5348075" cy="2011680"/>
            <a:chOff x="548640" y="4114800"/>
            <a:chExt cx="3514344" cy="2011680"/>
          </a:xfrm>
        </p:grpSpPr>
        <p:sp>
          <p:nvSpPr>
            <p:cNvPr id="20" name="Metric PROFIT MARGIN HEALTH"/>
            <p:cNvSpPr/>
            <p:nvPr/>
          </p:nvSpPr>
          <p:spPr>
            <a:xfrm>
              <a:off x="548640" y="4114800"/>
              <a:ext cx="3514344" cy="2011680"/>
            </a:xfrm>
            <a:prstGeom prst="roundRect">
              <a:avLst>
                <a:gd name="adj" fmla="val 4545"/>
              </a:avLst>
            </a:prstGeom>
            <a:solidFill>
              <a:schemeClr val="bg2"/>
            </a:solidFill>
            <a:ln w="9525">
              <a:solidFill>
                <a:srgbClr val="E2E8F0"/>
              </a:solidFill>
              <a:prstDash val="solid"/>
            </a:ln>
            <a:effectLst>
              <a:outerShdw blurRad="101600" dist="25400" dir="5400000" algn="bl" rotWithShape="0">
                <a:srgbClr val="1B2A4A">
                  <a:alpha val="10000"/>
                </a:srgbClr>
              </a:outerShdw>
            </a:effectLst>
          </p:spPr>
        </p:sp>
        <p:sp>
          <p:nvSpPr>
            <p:cNvPr id="21" name="Text 19"/>
            <p:cNvSpPr txBox="1"/>
            <p:nvPr/>
          </p:nvSpPr>
          <p:spPr>
            <a:xfrm>
              <a:off x="822960" y="4389120"/>
              <a:ext cx="29657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kern="0" spc="200" dirty="0">
                  <a:solidFill>
                    <a:schemeClr val="accent6"/>
                  </a:solidFill>
                </a:rPr>
                <a:t>PROFIT MARGIN HEALTH</a:t>
              </a:r>
              <a:endParaRPr lang="en-US" sz="1200" dirty="0"/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822960" y="4754880"/>
              <a:ext cx="2965704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4000" b="1" dirty="0">
                  <a:solidFill>
                    <a:schemeClr val="accent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11.61%</a:t>
              </a:r>
              <a:endParaRPr lang="en-US" sz="4000" dirty="0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822960" y="5532120"/>
              <a:ext cx="2965704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tx2"/>
                  </a:solidFill>
                </a:rPr>
                <a:t>Aggregate margin: roughly 12 cents of profit per $1 sold</a:t>
              </a:r>
              <a:endParaRPr lang="en-US" sz="1400" dirty="0"/>
            </a:p>
          </p:txBody>
        </p:sp>
      </p:grp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Product Performance &amp; Top Categories</a:t>
            </a:r>
            <a:endParaRPr lang="en-US" sz="3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Revenue leaders are not always margin leaders: Tables lose money despite $757K in sales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TOP 6 SUB-CATEGORIES BY REVENUE</a:t>
            </a:r>
            <a:endParaRPr lang="en-US" sz="1200" dirty="0"/>
          </a:p>
        </p:txBody>
      </p:sp>
      <p:graphicFrame>
        <p:nvGraphicFramePr>
          <p:cNvPr id="5" name="Top sub-categori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6583680" cy="268833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Sub-category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Sales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Profit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Margin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Phones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Technology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$1.71M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$216.7K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4A5568"/>
                          </a:solidFill>
                        </a:rPr>
                        <a:t>12.70%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Copiers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Technology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$1.51M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$258.6K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2F855A"/>
                          </a:solidFill>
                        </a:rPr>
                        <a:t>17.13%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Chairs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Furniture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$1.50M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$140.4K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C53030"/>
                          </a:solidFill>
                        </a:rPr>
                        <a:t>9.35%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Bookcases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Furniture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$1.47M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$161.9K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4A5568"/>
                          </a:solidFill>
                        </a:rPr>
                        <a:t>11.04%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Storage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Office Supplies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$1.13M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$108.5K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C53030"/>
                          </a:solidFill>
                        </a:rPr>
                        <a:t>9.62%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Appliances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Office Supplies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$1.01M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$141.7K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2F855A"/>
                          </a:solidFill>
                        </a:rPr>
                        <a:t>14.01%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7548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CATEGORY ROLL-UP</a:t>
            </a:r>
            <a:endParaRPr lang="en-US" sz="1200" dirty="0"/>
          </a:p>
        </p:txBody>
      </p:sp>
      <p:sp>
        <p:nvSpPr>
          <p:cNvPr id="7" name="Category Technology"/>
          <p:cNvSpPr/>
          <p:nvPr/>
        </p:nvSpPr>
        <p:spPr>
          <a:xfrm>
            <a:off x="548640" y="5074920"/>
            <a:ext cx="20726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5212080"/>
            <a:ext cx="170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Technology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48640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13.99%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943600"/>
            <a:ext cx="170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$4.74M sales  |  margin</a:t>
            </a:r>
            <a:endParaRPr lang="en-US" sz="1200" dirty="0"/>
          </a:p>
        </p:txBody>
      </p:sp>
      <p:sp>
        <p:nvSpPr>
          <p:cNvPr id="11" name="Category Office Supplies"/>
          <p:cNvSpPr/>
          <p:nvPr/>
        </p:nvSpPr>
        <p:spPr>
          <a:xfrm>
            <a:off x="2804160" y="5074920"/>
            <a:ext cx="20726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987040" y="5212080"/>
            <a:ext cx="170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Office Supplies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987040" y="548640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13.69%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2987040" y="5943600"/>
            <a:ext cx="170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$3.79M sales  |  margin</a:t>
            </a:r>
            <a:endParaRPr lang="en-US" sz="1200" dirty="0"/>
          </a:p>
        </p:txBody>
      </p:sp>
      <p:sp>
        <p:nvSpPr>
          <p:cNvPr id="15" name="Category Furniture"/>
          <p:cNvSpPr/>
          <p:nvPr/>
        </p:nvSpPr>
        <p:spPr>
          <a:xfrm>
            <a:off x="5059680" y="5074920"/>
            <a:ext cx="20726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242560" y="5212080"/>
            <a:ext cx="170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Furniture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242560" y="548640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6.94%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5242560" y="5943600"/>
            <a:ext cx="170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$4.11M sales  |  margin</a:t>
            </a:r>
            <a:endParaRPr lang="en-US" sz="1200" dirty="0"/>
          </a:p>
        </p:txBody>
      </p:sp>
      <p:sp>
        <p:nvSpPr>
          <p:cNvPr id="19" name="Margin watchlist"/>
          <p:cNvSpPr/>
          <p:nvPr/>
        </p:nvSpPr>
        <p:spPr>
          <a:xfrm>
            <a:off x="7498080" y="1645920"/>
            <a:ext cx="4142232" cy="4572000"/>
          </a:xfrm>
          <a:prstGeom prst="roundRect">
            <a:avLst>
              <a:gd name="adj" fmla="val 2208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772400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4"/>
                </a:solidFill>
              </a:rPr>
              <a:t>MARGIN WATCHLIST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Tables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0177272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-8.46%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0" y="2569464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$757K sales, -$64.1K profit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0" y="29535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Machines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0177272" y="29535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7.56%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0" y="3282696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$779K sales, lowest positive margin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0" y="366674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Supplies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0177272" y="366674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9.29%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0" y="399592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$243K sales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0" y="43799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Chairs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10177272" y="43799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9.35%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7772400" y="470916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$1.50M sales, #3 revenue driver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772400" y="5093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Storage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10177272" y="50932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9.62%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7772400" y="5422392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$1.13M sales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7772400" y="576072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High-margin pockets: Paper 24.2%, Labels 20.5%, Accessories 17.3%, Envelopes 17.3%.</a:t>
            </a:r>
            <a:endParaRPr lang="en-US" sz="12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Geographic Concentration &amp; Regional Footprint</a:t>
            </a:r>
            <a:endParaRPr lang="en-US" sz="3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EU - Central is the largest single market; four macro-markets each contribute 19-24% of sales</a:t>
            </a:r>
            <a:endParaRPr lang="en-US" sz="1600" dirty="0"/>
          </a:p>
        </p:txBody>
      </p:sp>
      <p:sp>
        <p:nvSpPr>
          <p:cNvPr id="4" name="Regional chart card"/>
          <p:cNvSpPr/>
          <p:nvPr/>
        </p:nvSpPr>
        <p:spPr>
          <a:xfrm>
            <a:off x="548640" y="1645920"/>
            <a:ext cx="6766560" cy="45720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685800" y="1737360"/>
          <a:ext cx="64922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gion block SCALE LEADER"/>
          <p:cNvSpPr/>
          <p:nvPr/>
        </p:nvSpPr>
        <p:spPr>
          <a:xfrm>
            <a:off x="7589520" y="1645920"/>
            <a:ext cx="4050792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818120" y="1755648"/>
            <a:ext cx="3593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6"/>
                </a:solidFill>
              </a:rPr>
              <a:t>SCALE LEADER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1993392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- Central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2359152"/>
            <a:ext cx="3593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14.0% of sales ($1.76M), margin 11.4%</a:t>
            </a:r>
            <a:endParaRPr lang="en-US" sz="1200" dirty="0"/>
          </a:p>
        </p:txBody>
      </p:sp>
      <p:sp>
        <p:nvSpPr>
          <p:cNvPr id="10" name="Region block MACRO-MARKET MIX"/>
          <p:cNvSpPr/>
          <p:nvPr/>
        </p:nvSpPr>
        <p:spPr>
          <a:xfrm>
            <a:off x="7589520" y="2834640"/>
            <a:ext cx="4050792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818120" y="2944368"/>
            <a:ext cx="3593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6"/>
                </a:solidFill>
              </a:rPr>
              <a:t>MACRO-MARKET MIX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3182112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23.7%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818120" y="3547872"/>
            <a:ext cx="3593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US 22.4%, APAC 21.9%, LATAM 18.9%</a:t>
            </a:r>
            <a:endParaRPr lang="en-US" sz="1200" dirty="0"/>
          </a:p>
        </p:txBody>
      </p:sp>
      <p:sp>
        <p:nvSpPr>
          <p:cNvPr id="14" name="Region block MARGIN LEADERS"/>
          <p:cNvSpPr/>
          <p:nvPr/>
        </p:nvSpPr>
        <p:spPr>
          <a:xfrm>
            <a:off x="7589520" y="4023360"/>
            <a:ext cx="4050792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818120" y="4133088"/>
            <a:ext cx="3593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6"/>
                </a:solidFill>
              </a:rPr>
              <a:t>MARGIN LEADERS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818120" y="4370832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- North 13.6%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7818120" y="4736592"/>
            <a:ext cx="3593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APAC - Oceania 13.4%, US - East 13.1%</a:t>
            </a:r>
            <a:endParaRPr lang="en-US" sz="1200" dirty="0"/>
          </a:p>
        </p:txBody>
      </p:sp>
      <p:sp>
        <p:nvSpPr>
          <p:cNvPr id="18" name="Region block MARGIN LAGGARDS"/>
          <p:cNvSpPr/>
          <p:nvPr/>
        </p:nvSpPr>
        <p:spPr>
          <a:xfrm>
            <a:off x="7589520" y="5212080"/>
            <a:ext cx="4050792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818120" y="5321808"/>
            <a:ext cx="3593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6"/>
                </a:solidFill>
              </a:rPr>
              <a:t>MARGIN LAGGARDS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818120" y="5559552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EMEA 8.5%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7818120" y="5925312"/>
            <a:ext cx="3593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US - South 8.9%, Africa 9.7%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Customer Segmentation Insights</a:t>
            </a:r>
            <a:endParaRPr lang="en-US" sz="3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Consumers deliver scale; Corporate customers deliver the highest spend per head</a:t>
            </a:r>
            <a:endParaRPr lang="en-US" sz="1600" dirty="0"/>
          </a:p>
        </p:txBody>
      </p:sp>
      <p:sp>
        <p:nvSpPr>
          <p:cNvPr id="4" name="Segment Consumer"/>
          <p:cNvSpPr/>
          <p:nvPr/>
        </p:nvSpPr>
        <p:spPr>
          <a:xfrm>
            <a:off x="548640" y="1645920"/>
            <a:ext cx="3514344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2965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6"/>
                </a:solidFill>
              </a:rPr>
              <a:t>TOTAL SALES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$6.51M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8328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51.5% of total sales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86200"/>
            <a:ext cx="2965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6"/>
                </a:solidFill>
              </a:rPr>
              <a:t>AVG SPEND / CUSTOMER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11480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$7,964.16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61772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818 unique customers</a:t>
            </a:r>
            <a:endParaRPr lang="en-US" sz="1400" dirty="0"/>
          </a:p>
        </p:txBody>
      </p:sp>
      <p:sp>
        <p:nvSpPr>
          <p:cNvPr id="12" name="Segment Corporate"/>
          <p:cNvSpPr/>
          <p:nvPr/>
        </p:nvSpPr>
        <p:spPr>
          <a:xfrm>
            <a:off x="4337304" y="1645920"/>
            <a:ext cx="3514344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611624" y="187452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</a:t>
            </a:r>
            <a:endParaRPr lang="en-US" sz="2200" dirty="0"/>
          </a:p>
        </p:txBody>
      </p:sp>
      <p:sp>
        <p:nvSpPr>
          <p:cNvPr id="14" name="Badge"/>
          <p:cNvSpPr/>
          <p:nvPr/>
        </p:nvSpPr>
        <p:spPr>
          <a:xfrm>
            <a:off x="6114288" y="1901952"/>
            <a:ext cx="146304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14288" y="19019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/>
                </a:solidFill>
              </a:rPr>
              <a:t>Highest avg spend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11624" y="2514600"/>
            <a:ext cx="2965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6"/>
                </a:solidFill>
              </a:rPr>
              <a:t>TOTAL SALES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11624" y="274320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$3.81M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4611624" y="338328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30.2% of total sales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611624" y="3886200"/>
            <a:ext cx="2965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6"/>
                </a:solidFill>
              </a:rPr>
              <a:t>AVG SPEND / CUSTOMER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611624" y="411480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$8,028.26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4611624" y="461772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475 unique customers</a:t>
            </a:r>
            <a:endParaRPr lang="en-US" sz="1400" dirty="0"/>
          </a:p>
        </p:txBody>
      </p:sp>
      <p:sp>
        <p:nvSpPr>
          <p:cNvPr id="22" name="Segment Home Office"/>
          <p:cNvSpPr/>
          <p:nvPr/>
        </p:nvSpPr>
        <p:spPr>
          <a:xfrm>
            <a:off x="8125968" y="1645920"/>
            <a:ext cx="3514344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400288" y="187452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Office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8400288" y="2514600"/>
            <a:ext cx="2965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6"/>
                </a:solidFill>
              </a:rPr>
              <a:t>TOTAL SALES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400288" y="274320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$2.31M</a:t>
            </a:r>
            <a:endParaRPr lang="en-US" sz="3800" dirty="0"/>
          </a:p>
        </p:txBody>
      </p:sp>
      <p:sp>
        <p:nvSpPr>
          <p:cNvPr id="26" name="Text 24"/>
          <p:cNvSpPr txBox="1"/>
          <p:nvPr/>
        </p:nvSpPr>
        <p:spPr>
          <a:xfrm>
            <a:off x="8400288" y="338328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18.3% of total sales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400288" y="3886200"/>
            <a:ext cx="2965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6"/>
                </a:solidFill>
              </a:rPr>
              <a:t>AVG SPEND / CUSTOMER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400288" y="411480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$7,818.92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8400288" y="461772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296 unique customers</a:t>
            </a:r>
            <a:endParaRPr lang="en-US" sz="1400" dirty="0"/>
          </a:p>
        </p:txBody>
      </p:sp>
      <p:sp>
        <p:nvSpPr>
          <p:cNvPr id="30" name="Segment insight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68680" y="534924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Spend per customer varies by only 2.7% across segments, so growth is a customer-count lever: Consumer holds 51% of the base, while each Corporate account is worth about $64 more than a Consumer account.</a:t>
            </a:r>
            <a:endParaRPr lang="en-US" sz="16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Operational Logistics &amp; Shipping Mode Analysis</a:t>
            </a:r>
            <a:endParaRPr lang="en-US" sz="3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Standard Class carries the volume; premium tiers cost up to 2.1x more per order</a:t>
            </a:r>
            <a:endParaRPr lang="en-US" sz="1600" dirty="0"/>
          </a:p>
        </p:txBody>
      </p:sp>
      <p:sp>
        <p:nvSpPr>
          <p:cNvPr id="4" name="Shipping table card"/>
          <p:cNvSpPr/>
          <p:nvPr/>
        </p:nvSpPr>
        <p:spPr>
          <a:xfrm>
            <a:off x="548640" y="1645920"/>
            <a:ext cx="7498080" cy="45720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graphicFrame>
        <p:nvGraphicFramePr>
          <p:cNvPr id="7" name="Shipping mod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7132320" cy="32918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Ship mode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Orders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% of orders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Avg cost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Total spend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% of spend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Standard Class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15,154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60.5%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2F855A"/>
                          </a:solidFill>
                        </a:rPr>
                        <a:t>$64.72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$2,037,175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48.8%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Second Class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4,944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19.7%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2F855A"/>
                          </a:solidFill>
                        </a:rPr>
                        <a:t>$93.02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$932,978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22.4%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First Class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3,646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14.6%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C53030"/>
                          </a:solidFill>
                        </a:rPr>
                        <a:t>$118.17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$846,444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20.3%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Same Day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1,291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5.2%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C53030"/>
                          </a:solidFill>
                        </a:rPr>
                        <a:t>$135.05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$353,684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8.5%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25,035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100%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n/a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$4,170,281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100%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31520" y="5806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Avg cost per order as reported. Green = standard tiers; red = premium tiers (First Class, Same Day).</a:t>
            </a:r>
            <a:endParaRPr lang="en-US" sz="1200" dirty="0"/>
          </a:p>
        </p:txBody>
      </p:sp>
      <p:sp>
        <p:nvSpPr>
          <p:cNvPr id="5" name="Stat 2.1x"/>
          <p:cNvSpPr/>
          <p:nvPr/>
        </p:nvSpPr>
        <p:spPr>
          <a:xfrm>
            <a:off x="8321040" y="1645920"/>
            <a:ext cx="331927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595360" y="1783080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2.1x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2514600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Same Day cost vs Standard Class ($135.05 vs $64.72)</a:t>
            </a:r>
            <a:endParaRPr lang="en-US" sz="1400" dirty="0"/>
          </a:p>
        </p:txBody>
      </p:sp>
      <p:sp>
        <p:nvSpPr>
          <p:cNvPr id="10" name="Stat 19.7%"/>
          <p:cNvSpPr/>
          <p:nvPr/>
        </p:nvSpPr>
        <p:spPr>
          <a:xfrm>
            <a:off x="8321040" y="3200400"/>
            <a:ext cx="331927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595360" y="3337560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19.7%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4069080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of orders ship First Class or Same Day</a:t>
            </a:r>
            <a:endParaRPr lang="en-US" sz="1400" dirty="0"/>
          </a:p>
        </p:txBody>
      </p:sp>
      <p:sp>
        <p:nvSpPr>
          <p:cNvPr id="13" name="Stat 28.8%"/>
          <p:cNvSpPr/>
          <p:nvPr/>
        </p:nvSpPr>
        <p:spPr>
          <a:xfrm>
            <a:off x="8321040" y="4754880"/>
            <a:ext cx="331927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595360" y="4892040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28.8%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8595360" y="5623560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of total shipping spend ($1.20M) from those tiers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Strategic Recommendations &amp; Next Steps</a:t>
            </a:r>
            <a:endParaRPr lang="en-US" sz="3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Four moves to protect margin and compound growth</a:t>
            </a:r>
            <a:endParaRPr lang="en-US" sz="1600" dirty="0"/>
          </a:p>
        </p:txBody>
      </p:sp>
      <p:sp>
        <p:nvSpPr>
          <p:cNvPr id="4" name="Action 1"/>
          <p:cNvSpPr/>
          <p:nvPr/>
        </p:nvSpPr>
        <p:spPr>
          <a:xfrm>
            <a:off x="548640" y="1645920"/>
            <a:ext cx="5408676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5" name="Number badge 1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2024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margins on high-discount items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48600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Cap discount depth on Tables (-8.46%), Machines (7.56%) and Chairs (9.35%); set a margin floor for approval.</a:t>
            </a:r>
            <a:endParaRPr lang="en-US" sz="1600" dirty="0"/>
          </a:p>
        </p:txBody>
      </p:sp>
      <p:sp>
        <p:nvSpPr>
          <p:cNvPr id="9" name="Action 2"/>
          <p:cNvSpPr/>
          <p:nvPr/>
        </p:nvSpPr>
        <p:spPr>
          <a:xfrm>
            <a:off x="6231636" y="1645920"/>
            <a:ext cx="5408676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0" name="Number badge 2"/>
          <p:cNvSpPr/>
          <p:nvPr/>
        </p:nvSpPr>
        <p:spPr>
          <a:xfrm>
            <a:off x="6505956" y="1920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5956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283196" y="192024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premium shipping thresholds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505956" y="2651760"/>
            <a:ext cx="48600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Set order-value minimums for First Class and Same Day (19.7% of orders, 28.8% of shipping spend) and steer routine orders to Standard.</a:t>
            </a:r>
            <a:endParaRPr lang="en-US" sz="1600" dirty="0"/>
          </a:p>
        </p:txBody>
      </p:sp>
      <p:sp>
        <p:nvSpPr>
          <p:cNvPr id="14" name="Action 3"/>
          <p:cNvSpPr/>
          <p:nvPr/>
        </p:nvSpPr>
        <p:spPr>
          <a:xfrm>
            <a:off x="548640" y="4023360"/>
            <a:ext cx="5408676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5" name="Number badge 3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29768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marketing on high-yield segments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600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Prioritize Corporate ($8,028 per customer) for retention; grow Consumer customer count, 51% of the base.</a:t>
            </a:r>
            <a:endParaRPr lang="en-US" sz="1600" dirty="0"/>
          </a:p>
        </p:txBody>
      </p:sp>
      <p:sp>
        <p:nvSpPr>
          <p:cNvPr id="19" name="Action 4"/>
          <p:cNvSpPr/>
          <p:nvPr/>
        </p:nvSpPr>
        <p:spPr>
          <a:xfrm>
            <a:off x="6231636" y="4023360"/>
            <a:ext cx="5408676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0" name="Number badge 4"/>
          <p:cNvSpPr/>
          <p:nvPr/>
        </p:nvSpPr>
        <p:spPr>
          <a:xfrm>
            <a:off x="6505956" y="4297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05956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283196" y="429768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down on strongholds, fix laggards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505956" y="5029200"/>
            <a:ext cx="48600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Defend Central (24% of sales); lift EMEA and Caribbean (8.4%) toward the 11.6% company margin.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perstore Executive">
  <a:themeElements>
    <a:clrScheme name="Superstore Executive">
      <a:dk1>
        <a:srgbClr val="1B2A4A"/>
      </a:dk1>
      <a:lt1>
        <a:srgbClr val="F7FAFC"/>
      </a:lt1>
      <a:dk2>
        <a:srgbClr val="4A5568"/>
      </a:dk2>
      <a:lt2>
        <a:srgbClr val="FFFFFF"/>
      </a:lt2>
      <a:accent1>
        <a:srgbClr val="2F855A"/>
      </a:accent1>
      <a:accent2>
        <a:srgbClr val="1B2A4A"/>
      </a:accent2>
      <a:accent3>
        <a:srgbClr val="4A5568"/>
      </a:accent3>
      <a:accent4>
        <a:srgbClr val="C53030"/>
      </a:accent4>
      <a:accent5>
        <a:srgbClr val="CBD5E0"/>
      </a:accent5>
      <a:accent6>
        <a:srgbClr val="718096"/>
      </a:accent6>
      <a:hlink>
        <a:srgbClr val="2F855A"/>
      </a:hlink>
      <a:folHlink>
        <a:srgbClr val="4A5568"/>
      </a:folHlink>
    </a:clrScheme>
    <a:fontScheme name="Superstore Executiv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842</Words>
  <Application>Microsoft Office PowerPoint</Application>
  <PresentationFormat>Widescreen</PresentationFormat>
  <Paragraphs>202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Superstore Executive</vt:lpstr>
      <vt:lpstr>Superstore Performance &amp; Fulfillment Analytics</vt:lpstr>
      <vt:lpstr>Executive Summary</vt:lpstr>
      <vt:lpstr>Product Performance &amp; Top Categories</vt:lpstr>
      <vt:lpstr>Geographic Concentration &amp; Regional Footprint</vt:lpstr>
      <vt:lpstr>Customer Segmentation Insights</vt:lpstr>
      <vt:lpstr>Operational Logistics &amp; Shipping Mode Analysis</vt:lpstr>
      <vt:lpstr>Strategic Recommendations &amp; Next Steps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Performance &amp; Fulfillment Analytics</dc:title>
  <dc:subject>PptxGenJS Presentation</dc:subject>
  <dc:creator>PptxGenJS</dc:creator>
  <cp:lastModifiedBy>Author</cp:lastModifiedBy>
  <cp:revision>2</cp:revision>
  <dcterms:created xsi:type="dcterms:W3CDTF">2026-10-25T22:39:19Z</dcterms:created>
  <dcterms:modified xsi:type="dcterms:W3CDTF">2026-10-25T22:43:34Z</dcterms:modified>
</cp:coreProperties>
</file>